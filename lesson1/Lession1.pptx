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747898-5EDF-4DF9-A651-F8B89DE7C0B0}">
  <a:tblStyle styleId="{84747898-5EDF-4DF9-A651-F8B89DE7C0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cc13b3ef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cc13b3ef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cc13b3eff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cc13b3eff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cc13b3e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cc13b3e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c13b3e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c13b3e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cc13b3ef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9cc13b3ef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cc13b3eff_0_82:notes"/>
          <p:cNvSpPr/>
          <p:nvPr>
            <p:ph idx="2" type="sldImg"/>
          </p:nvPr>
        </p:nvSpPr>
        <p:spPr>
          <a:xfrm>
            <a:off x="857406" y="685797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cc13b3eff_0_82:notes"/>
          <p:cNvSpPr txBox="1"/>
          <p:nvPr>
            <p:ph idx="1" type="body"/>
          </p:nvPr>
        </p:nvSpPr>
        <p:spPr>
          <a:xfrm>
            <a:off x="685792" y="4343391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c13b3eff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9cc13b3eff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cc13b3ef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cc13b3ef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cc13b3ef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cc13b3ef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create layers of neurons and connect them to subsequent layers, what we end up with is a neural network.  This is a powerful concept- each of these neurons is a non linear function, and taken together, this network  can model any function in the world.  The process of discovering the optimal weights of these networks for a given problem is called backpropagation.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cc13b3ef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cc13b3ef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layer processes information and outputs  a summarized data, which is further processed till a final output layer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cc13b3eff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cc13b3eff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cc13b3eff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cc13b3eff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can frame the next token given a current phrase as a classification problem.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cc13b3eff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cc13b3eff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cc13b3eff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cc13b3eff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cc13b3eff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cc13b3eff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cc13b3eff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cc13b3eff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cc13b3eff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cc13b3eff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c13b3ef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cc13b3ef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cc13b3eff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cc13b3eff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4eef8e8f8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4eef8e8f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cc13b3ef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cc13b3ef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eef8e8f8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4eef8e8f8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eef8e8f8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eef8e8f8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2874" y="0"/>
            <a:ext cx="9284494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405000" y="405001"/>
            <a:ext cx="83784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venir"/>
              <a:buNone/>
              <a:defRPr sz="3000">
                <a:solidFill>
                  <a:schemeClr val="lt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671"/>
            <a:ext cx="9139238" cy="514081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35063" y="405002"/>
            <a:ext cx="80700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Arial"/>
              <a:buNone/>
              <a:defRPr b="1" i="0" sz="2700" u="none" cap="none" strike="noStrike">
                <a:solidFill>
                  <a:srgbClr val="0099C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535063" y="1001268"/>
            <a:ext cx="8067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8" name="Google Shape;58;p15"/>
          <p:cNvGrpSpPr/>
          <p:nvPr/>
        </p:nvGrpSpPr>
        <p:grpSpPr>
          <a:xfrm>
            <a:off x="-1" y="4719175"/>
            <a:ext cx="9143963" cy="424385"/>
            <a:chOff x="1" y="6298584"/>
            <a:chExt cx="12188700" cy="565847"/>
          </a:xfrm>
        </p:grpSpPr>
        <p:sp>
          <p:nvSpPr>
            <p:cNvPr id="59" name="Google Shape;59;p15"/>
            <p:cNvSpPr/>
            <p:nvPr/>
          </p:nvSpPr>
          <p:spPr>
            <a:xfrm>
              <a:off x="1" y="6328882"/>
              <a:ext cx="12188700" cy="52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 txBox="1"/>
            <p:nvPr/>
          </p:nvSpPr>
          <p:spPr>
            <a:xfrm>
              <a:off x="209759" y="6335231"/>
              <a:ext cx="3375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fld id="{00000000-1234-1234-1234-123412341234}" type="slidenum">
                <a:rPr b="0" i="0" lang="en" sz="800" u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579195" y="6328882"/>
              <a:ext cx="25407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rPr lang="en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© 2022 Akamai | Confidential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lose up of a logo&#10;&#10;Description automatically generated" id="62" name="Google Shape;6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96451" y="6298584"/>
              <a:ext cx="2432438" cy="5246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5"/>
          <p:cNvSpPr/>
          <p:nvPr/>
        </p:nvSpPr>
        <p:spPr>
          <a:xfrm>
            <a:off x="7364949" y="4770526"/>
            <a:ext cx="16809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187B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200" y="971551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/>
          </a:bodyPr>
          <a:lstStyle>
            <a:lvl1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595959"/>
                </a:solidFill>
              </a:defRPr>
            </a:lvl1pPr>
            <a:lvl2pPr indent="-330200" lvl="1" marL="914400" rtl="0" algn="l">
              <a:spcBef>
                <a:spcPts val="320"/>
              </a:spcBef>
              <a:spcAft>
                <a:spcPts val="0"/>
              </a:spcAft>
              <a:buSzPts val="1600"/>
              <a:buFont typeface="Avenir"/>
              <a:buChar char="○"/>
              <a:defRPr sz="1600">
                <a:solidFill>
                  <a:srgbClr val="595959"/>
                </a:solidFill>
              </a:defRPr>
            </a:lvl2pPr>
            <a:lvl3pPr indent="-330200" lvl="2" marL="13716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■"/>
              <a:defRPr sz="1600">
                <a:solidFill>
                  <a:srgbClr val="595959"/>
                </a:solidFill>
              </a:defRPr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●"/>
              <a:defRPr sz="1600">
                <a:solidFill>
                  <a:srgbClr val="595959"/>
                </a:solidFill>
              </a:defRPr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○"/>
              <a:defRPr sz="1600">
                <a:solidFill>
                  <a:srgbClr val="595959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grpSp>
        <p:nvGrpSpPr>
          <p:cNvPr id="67" name="Google Shape;67;p16"/>
          <p:cNvGrpSpPr/>
          <p:nvPr/>
        </p:nvGrpSpPr>
        <p:grpSpPr>
          <a:xfrm rot="10800000">
            <a:off x="-138279" y="547609"/>
            <a:ext cx="952685" cy="111968"/>
            <a:chOff x="15544800" y="736600"/>
            <a:chExt cx="3890098" cy="457200"/>
          </a:xfrm>
        </p:grpSpPr>
        <p:sp>
          <p:nvSpPr>
            <p:cNvPr id="68" name="Google Shape;68;p16"/>
            <p:cNvSpPr/>
            <p:nvPr/>
          </p:nvSpPr>
          <p:spPr>
            <a:xfrm>
              <a:off x="15544800" y="736600"/>
              <a:ext cx="457200" cy="45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t/>
              </a:r>
              <a:endParaRPr b="1" sz="11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" name="Google Shape;69;p16"/>
            <p:cNvCxnSpPr/>
            <p:nvPr/>
          </p:nvCxnSpPr>
          <p:spPr>
            <a:xfrm>
              <a:off x="16001998" y="965200"/>
              <a:ext cx="3432900" cy="0"/>
            </a:xfrm>
            <a:prstGeom prst="straightConnector1">
              <a:avLst/>
            </a:prstGeom>
            <a:solidFill>
              <a:schemeClr val="accent1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ith bullets">
  <p:cSld name="Header with bullets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b="9616" l="0" r="0" t="0"/>
          <a:stretch/>
        </p:blipFill>
        <p:spPr>
          <a:xfrm>
            <a:off x="0" y="670"/>
            <a:ext cx="9141619" cy="464752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700"/>
              <a:buFont typeface="Arial"/>
              <a:buNone/>
              <a:defRPr sz="2700">
                <a:solidFill>
                  <a:srgbClr val="0099CC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311700" y="1927350"/>
            <a:ext cx="85206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LLM Course: Session 1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we cover ?</a:t>
            </a:r>
            <a:endParaRPr/>
          </a:p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1:  Quick review of ML, Neural  networks, Text Processing hands on Ollama Jupyter notebook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Session 2:  Gradio, Function calling LLMs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Session 4: HuggingFace Open source LLMs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Session 5: RAG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Session 6:  LLM fine tuning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ML, Neural Networks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would you pay for 1300 sq Ft in BTM ?</a:t>
            </a:r>
            <a:endParaRPr/>
          </a:p>
        </p:txBody>
      </p:sp>
      <p:graphicFrame>
        <p:nvGraphicFramePr>
          <p:cNvPr id="95" name="Google Shape;95;p21"/>
          <p:cNvGraphicFramePr/>
          <p:nvPr/>
        </p:nvGraphicFramePr>
        <p:xfrm>
          <a:off x="950700" y="114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{84747898-5EDF-4DF9-A651-F8B89DE7C0B0}</a:tableStyleId>
              </a:tblPr>
              <a:tblGrid>
                <a:gridCol w="1510225"/>
                <a:gridCol w="1510225"/>
              </a:tblGrid>
              <a:tr h="3554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Housing prices in BTM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 ( square Feet)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Price (Lakhs)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1300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?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3799" t="3799"/>
          <a:stretch/>
        </p:blipFill>
        <p:spPr>
          <a:xfrm>
            <a:off x="4200698" y="1503425"/>
            <a:ext cx="4830450" cy="31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Basic Machine learning workflow</a:t>
            </a:r>
            <a:endParaRPr/>
          </a:p>
        </p:txBody>
      </p:sp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74075"/>
            <a:ext cx="76485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457200" y="971551"/>
            <a:ext cx="8229600" cy="3623100"/>
          </a:xfrm>
          <a:prstGeom prst="rect">
            <a:avLst/>
          </a:prstGeom>
        </p:spPr>
        <p:txBody>
          <a:bodyPr anchorCtr="0" anchor="t" bIns="40800" lIns="81625" spcFirstLastPara="1" rIns="81625" wrap="square" tIns="408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dia/image3.jpeg" id="108" name="Google Shape;1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81" y="1734989"/>
            <a:ext cx="7893847" cy="248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"/>
              <a:t>Data is split into training, validation, test sets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9285"/>
              <a:buFont typeface="Arial"/>
              <a:buNone/>
            </a:pPr>
            <a:r>
              <a:rPr lang="en"/>
              <a:t>The Model: Linear regression example</a:t>
            </a:r>
            <a:endParaRPr/>
          </a:p>
        </p:txBody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457200" y="845398"/>
            <a:ext cx="8229600" cy="790200"/>
          </a:xfrm>
          <a:prstGeom prst="rect">
            <a:avLst/>
          </a:prstGeom>
        </p:spPr>
        <p:txBody>
          <a:bodyPr anchorCtr="0" anchor="t" bIns="40800" lIns="81625" spcFirstLastPara="1" rIns="81625" wrap="square" tIns="408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 model is a function that approximates the observed phenomena.  It  has some (initially) unknown parameters  ( called ‘weights’) </a:t>
            </a:r>
            <a:endParaRPr sz="1500"/>
          </a:p>
          <a:p>
            <a:pPr indent="0" lvl="0" marL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cdn-images-1.medium.com/max/800/1*XfDb8XhzTy1nVnwSy1mv6g.png" id="116" name="Google Shape;1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936" y="1835085"/>
            <a:ext cx="2750344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/>
        </p:nvSpPr>
        <p:spPr>
          <a:xfrm>
            <a:off x="4333550" y="1856250"/>
            <a:ext cx="3000000" cy="7155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94949"/>
                </a:solidFill>
              </a:rPr>
              <a:t>Y = </a:t>
            </a:r>
            <a:r>
              <a:rPr b="1" lang="en" sz="1800">
                <a:solidFill>
                  <a:srgbClr val="FF9900"/>
                </a:solidFill>
              </a:rPr>
              <a:t>0.1051</a:t>
            </a:r>
            <a:r>
              <a:rPr lang="en" sz="1800">
                <a:solidFill>
                  <a:srgbClr val="494949"/>
                </a:solidFill>
              </a:rPr>
              <a:t>*X </a:t>
            </a:r>
            <a:r>
              <a:rPr lang="en" sz="1800">
                <a:solidFill>
                  <a:srgbClr val="FF9900"/>
                </a:solidFill>
              </a:rPr>
              <a:t>- 51.06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515100" y="2700918"/>
            <a:ext cx="8229600" cy="1119300"/>
          </a:xfrm>
          <a:prstGeom prst="rect">
            <a:avLst/>
          </a:prstGeom>
        </p:spPr>
        <p:txBody>
          <a:bodyPr anchorCtr="0" anchor="t" bIns="40800" lIns="81625" spcFirstLastPara="1" rIns="81625" wrap="square" tIns="408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 function that tracks the  model output’s deviation from the actual values. Needed to learn the optimal model  parameters.</a:t>
            </a:r>
            <a:endParaRPr sz="1500"/>
          </a:p>
          <a:p>
            <a:pPr indent="0" lvl="0" marL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cdn-images-1.medium.com/max/800/1*20m_U-H6EIcxlN2k07Z7oQ.png" id="119" name="Google Shape;1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386" y="3893385"/>
            <a:ext cx="3143250" cy="104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8432" y="1539061"/>
            <a:ext cx="4248058" cy="2272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7" y="1539062"/>
            <a:ext cx="4789550" cy="2493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733646" y="4218465"/>
            <a:ext cx="357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plot with respect to input variables</a:t>
            </a:r>
            <a:endParaRPr sz="1100"/>
          </a:p>
        </p:txBody>
      </p:sp>
      <p:sp>
        <p:nvSpPr>
          <p:cNvPr id="127" name="Google Shape;127;p25"/>
          <p:cNvSpPr txBox="1"/>
          <p:nvPr/>
        </p:nvSpPr>
        <p:spPr>
          <a:xfrm>
            <a:off x="5236996" y="4218465"/>
            <a:ext cx="357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plot with respect to input variables</a:t>
            </a:r>
            <a:endParaRPr sz="1100"/>
          </a:p>
        </p:txBody>
      </p:sp>
      <p:sp>
        <p:nvSpPr>
          <p:cNvPr id="128" name="Google Shape;128;p25"/>
          <p:cNvSpPr txBox="1"/>
          <p:nvPr/>
        </p:nvSpPr>
        <p:spPr>
          <a:xfrm>
            <a:off x="42947" y="4670081"/>
            <a:ext cx="902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Moving in the opposite direction to gradient should lead us to the lowest point(s)!</a:t>
            </a:r>
            <a:endParaRPr sz="1100"/>
          </a:p>
        </p:txBody>
      </p:sp>
      <p:sp>
        <p:nvSpPr>
          <p:cNvPr id="129" name="Google Shape;129;p25"/>
          <p:cNvSpPr txBox="1"/>
          <p:nvPr>
            <p:ph type="title"/>
          </p:nvPr>
        </p:nvSpPr>
        <p:spPr>
          <a:xfrm>
            <a:off x="950700" y="432156"/>
            <a:ext cx="7358400" cy="9423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Gradient Descent: The best solution lies where cost function is lowest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mathematical model of a  single neuron</a:t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8600" y="1901850"/>
            <a:ext cx="3860195" cy="22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800" y="1901850"/>
            <a:ext cx="4415274" cy="22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1937700" y="4389125"/>
            <a:ext cx="526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8100" marR="3810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200">
                <a:solidFill>
                  <a:srgbClr val="575651"/>
                </a:solidFill>
              </a:rPr>
              <a:t>A drawing of a biological neuron (left) and its mathematical model (right).</a:t>
            </a:r>
            <a:endParaRPr sz="1050">
              <a:solidFill>
                <a:srgbClr val="575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950700" y="432177"/>
            <a:ext cx="7358400" cy="7491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neural net : many layers of connected neurons </a:t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863" y="1204200"/>
            <a:ext cx="7534275" cy="369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7"/>
          <p:cNvCxnSpPr/>
          <p:nvPr/>
        </p:nvCxnSpPr>
        <p:spPr>
          <a:xfrm flipH="1" rot="10800000">
            <a:off x="6665100" y="1476475"/>
            <a:ext cx="56700" cy="34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7"/>
          <p:cNvCxnSpPr/>
          <p:nvPr/>
        </p:nvCxnSpPr>
        <p:spPr>
          <a:xfrm>
            <a:off x="2123375" y="1351725"/>
            <a:ext cx="192900" cy="5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7"/>
          <p:cNvSpPr txBox="1"/>
          <p:nvPr/>
        </p:nvSpPr>
        <p:spPr>
          <a:xfrm>
            <a:off x="1339950" y="1181400"/>
            <a:ext cx="1442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weights go here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are like management hierarchies</a:t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501" y="1859000"/>
            <a:ext cx="5753424" cy="315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975" y="944775"/>
            <a:ext cx="7316051" cy="411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can solve classification Problems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token prediction given some text </a:t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092" y="1017725"/>
            <a:ext cx="2821382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Text Processing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represent text for a Neural network?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We can represent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words as discrete symbols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Example: One hot vectors where one bit is 1, rest are 0: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hotel = [0 0 0 0 0 0 0 0 0 0 0 1 0 0 0  0]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motel = [0 0 0 1 0 0 0 0 0 0 0 0 0 0 0 0]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But: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The vector dimension is the total # of words in the vocabulary - a problem for large vocabularies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The mapping approach  ignores word similarity completely. 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311700" y="388100"/>
            <a:ext cx="8520600" cy="41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One Hot Encoding Categoricals</a:t>
            </a:r>
            <a:endParaRPr i="1"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 = [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"War and Peace"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"Anna Karenina"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"The Hitchhiker's Guide to the Galaxy"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books_encoded = [[1, 0, 0],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[0, 1, 0],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[0, 0, 1]]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Second = 0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Second and Third = 0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01600" marR="101600" rtl="0" algn="l">
              <a:lnSpc>
                <a:spcPct val="135555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Third = 0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Embeddings </a:t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ords as dense, not one hot vectors where similar meanings words occur nearby: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 = [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"War and Peace"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"Anna Karenina"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"The Hitchhiker's Guide to the Galaxy"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books_encoded_ideal = [[0.53,  0.85],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[0.60,  0.80],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[-0.78, -0.62]]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Second = 0.99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Second and Third = -0.94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01600" marR="101600" rtl="0" algn="l">
              <a:lnSpc>
                <a:spcPct val="15555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Third = -0.97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668" y="235425"/>
            <a:ext cx="4672676" cy="467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Tokenizing Text input 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Tokenizing a text is splitting it into words or subwords, which then are converted to ids through a look-up table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 tokenizer does this compression by constructing a one-to-one map of token strings (combinations of characters) to token IDs (a number).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 pretrained language model’s subword vocabulary cannot be altered: any downstream application of these models must tokenize input or generate output using the original subword vocabulary,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Tokenizing Options</a:t>
            </a:r>
            <a:endParaRPr/>
          </a:p>
        </p:txBody>
      </p:sp>
      <p:sp>
        <p:nvSpPr>
          <p:cNvPr id="203" name="Google Shape;20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Word Tokenization: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Splitting text along word spaces and punctuation characters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FF0000"/>
                </a:solidFill>
                <a:highlight>
                  <a:schemeClr val="lt1"/>
                </a:highlight>
              </a:rPr>
              <a:t>(-) very large vocabulary size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Character tokenization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: Simple and would greatly reduce memory and time complexity.  </a:t>
            </a:r>
            <a:b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(-)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But </a:t>
            </a: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makes it  hard for the model to learn meaningful input representations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. ‘T’  in itself means nothing  compared to ‘Today’ . </a:t>
            </a:r>
            <a:b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(-) Very long sequences </a:t>
            </a: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Subword tokenization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Frequently used words should not be split into smaller subwords but rare words should be decomposed into meaningful subwords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Unigram Lang Model Tokenization : 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Begin with a superset of the final vocabulary, pruning it to desired size: (+)  Semantically relevant affixes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Large language Models?</a:t>
            </a:r>
            <a:endParaRPr/>
          </a:p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7F7F7F"/>
                </a:solidFill>
              </a:rPr>
              <a:t>Language Models are models that are  trained   without supervision on sentence completion tasks, where a partial string is fed as input and it predicts the output: 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F7F7F"/>
                </a:solidFill>
              </a:rPr>
              <a:t>“A stitch in time _____________”     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F7F7F"/>
                </a:solidFill>
              </a:rPr>
              <a:t>This is called ‘pre training’., and typically uses data consisting of Wikipedia or other internet pages.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F7F7F"/>
                </a:solidFill>
              </a:rPr>
              <a:t>The introduction of Transformers (Vaswani in 2017), allowed these models to understand a word in context of the whole sentence,, allowing  for more accurate completions.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F7F7F"/>
                </a:solidFill>
              </a:rPr>
              <a:t>Large Language Models are neural nets  that use the transformer architecture and have billions of parameters </a:t>
            </a:r>
            <a:endParaRPr sz="14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processing steps in a Large language Model</a:t>
            </a:r>
            <a:endParaRPr/>
          </a:p>
        </p:txBody>
      </p:sp>
      <p:pic>
        <p:nvPicPr>
          <p:cNvPr id="215" name="Google Shape;2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663" y="1184525"/>
            <a:ext cx="634266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and Larger Models</a:t>
            </a:r>
            <a:endParaRPr/>
          </a:p>
        </p:txBody>
      </p:sp>
      <p:pic>
        <p:nvPicPr>
          <p:cNvPr id="221" name="Google Shape;22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713" y="1017725"/>
            <a:ext cx="551258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Trained on more and more data</a:t>
            </a:r>
            <a:endParaRPr/>
          </a:p>
        </p:txBody>
      </p:sp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63" y="1218950"/>
            <a:ext cx="79668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