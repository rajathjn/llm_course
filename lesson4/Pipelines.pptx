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460f786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460f786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460f786c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460f786c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460f786c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460f786c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460f786c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460f786c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03f86f4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03f86f4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460f786c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460f786c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460f786c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460f786c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131758f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131758f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460f786c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460f786c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131758f7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131758f7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huggingface.co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huggingface.co/docs/transformers/main_classes/tokenizer" TargetMode="External"/><Relationship Id="rId4" Type="http://schemas.openxmlformats.org/officeDocument/2006/relationships/hyperlink" Target="https://huggingface.co/docs/transformers/main_classes/image_processor" TargetMode="External"/><Relationship Id="rId5" Type="http://schemas.openxmlformats.org/officeDocument/2006/relationships/hyperlink" Target="https://huggingface.co/docs/transformers/main_classes/feature_extractor" TargetMode="External"/><Relationship Id="rId6" Type="http://schemas.openxmlformats.org/officeDocument/2006/relationships/hyperlink" Target="https://huggingface.co/docs/transformers/main_classes/processors" TargetMode="External"/><Relationship Id="rId7" Type="http://schemas.openxmlformats.org/officeDocument/2006/relationships/hyperlink" Target="https://huggingface.co/docs/transformers/main_classes/mode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HuggingFace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 leading platform for </a:t>
            </a:r>
            <a:r>
              <a:rPr b="1" lang="en" sz="1400">
                <a:solidFill>
                  <a:schemeClr val="dk1"/>
                </a:solidFill>
              </a:rPr>
              <a:t>machine learning and natural language processing (NLP)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Hosts thousands of </a:t>
            </a:r>
            <a:r>
              <a:rPr b="1" lang="en" sz="1400">
                <a:solidFill>
                  <a:schemeClr val="dk1"/>
                </a:solidFill>
              </a:rPr>
              <a:t>pre‑trained models</a:t>
            </a:r>
            <a:r>
              <a:rPr lang="en" sz="1400">
                <a:solidFill>
                  <a:schemeClr val="dk1"/>
                </a:solidFill>
              </a:rPr>
              <a:t> (LLMs, vision, audio, etc.).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Provides tools like </a:t>
            </a:r>
            <a:r>
              <a:rPr b="1" lang="en" sz="1400">
                <a:solidFill>
                  <a:schemeClr val="dk1"/>
                </a:solidFill>
              </a:rPr>
              <a:t>Transformers library</a:t>
            </a:r>
            <a:r>
              <a:rPr lang="en" sz="1400">
                <a:solidFill>
                  <a:schemeClr val="dk1"/>
                </a:solidFill>
              </a:rPr>
              <a:t>, </a:t>
            </a:r>
            <a:r>
              <a:rPr b="1" lang="en" sz="1400">
                <a:solidFill>
                  <a:schemeClr val="dk1"/>
                </a:solidFill>
              </a:rPr>
              <a:t>Datasets</a:t>
            </a:r>
            <a:r>
              <a:rPr lang="en" sz="1400">
                <a:solidFill>
                  <a:schemeClr val="dk1"/>
                </a:solidFill>
              </a:rPr>
              <a:t>, and </a:t>
            </a:r>
            <a:r>
              <a:rPr b="1" lang="en" sz="1400">
                <a:solidFill>
                  <a:schemeClr val="dk1"/>
                </a:solidFill>
              </a:rPr>
              <a:t>Spaces</a:t>
            </a:r>
            <a:r>
              <a:rPr lang="en" sz="1400">
                <a:solidFill>
                  <a:schemeClr val="dk1"/>
                </a:solidFill>
              </a:rPr>
              <a:t> for deploying ML apps.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Community‑driven: researchers, developers, and companies share models openly.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Started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19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Go to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huggingface.co.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Click </a:t>
            </a:r>
            <a:r>
              <a:rPr b="1" lang="en" sz="1100">
                <a:solidFill>
                  <a:schemeClr val="dk1"/>
                </a:solidFill>
              </a:rPr>
              <a:t>Sign Up</a:t>
            </a:r>
            <a:r>
              <a:rPr lang="en" sz="1100">
                <a:solidFill>
                  <a:schemeClr val="dk1"/>
                </a:solidFill>
              </a:rPr>
              <a:t> (top right).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Enter your email, username, and password.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Verify your email address.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Log in to access your profile and models.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3500" y="1152475"/>
            <a:ext cx="359039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 an access token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402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While logged in, click your profile picture → </a:t>
            </a:r>
            <a:r>
              <a:rPr b="1" lang="en" sz="1400">
                <a:solidFill>
                  <a:schemeClr val="dk1"/>
                </a:solidFill>
              </a:rPr>
              <a:t>Settings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Navigate to </a:t>
            </a:r>
            <a:r>
              <a:rPr b="1" lang="en" sz="1400">
                <a:solidFill>
                  <a:schemeClr val="dk1"/>
                </a:solidFill>
              </a:rPr>
              <a:t>Access Tokens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Click </a:t>
            </a:r>
            <a:r>
              <a:rPr b="1" lang="en" sz="1400">
                <a:solidFill>
                  <a:schemeClr val="dk1"/>
                </a:solidFill>
              </a:rPr>
              <a:t>New Token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Choose the  name (</a:t>
            </a:r>
            <a:r>
              <a:rPr lang="en" sz="1400">
                <a:solidFill>
                  <a:srgbClr val="1F1F1F"/>
                </a:solidFill>
                <a:highlight>
                  <a:srgbClr val="FFFFFF"/>
                </a:highlight>
              </a:rPr>
              <a:t>HF_TOKEN</a:t>
            </a:r>
            <a:r>
              <a:rPr lang="en" sz="1400">
                <a:solidFill>
                  <a:schemeClr val="dk1"/>
                </a:solidFill>
              </a:rPr>
              <a:t>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Select </a:t>
            </a:r>
            <a:r>
              <a:rPr b="1" lang="en" sz="1400">
                <a:solidFill>
                  <a:schemeClr val="dk1"/>
                </a:solidFill>
              </a:rPr>
              <a:t>write </a:t>
            </a:r>
            <a:r>
              <a:rPr lang="en" sz="1400">
                <a:solidFill>
                  <a:schemeClr val="dk1"/>
                </a:solidFill>
              </a:rPr>
              <a:t> for token type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Copy the generated token — keep it private!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125" y="1170125"/>
            <a:ext cx="4214876" cy="368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the token in your Google Colab notebooks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825" y="1233125"/>
            <a:ext cx="491916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Hello World Program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transformers </a:t>
            </a:r>
            <a:r>
              <a:rPr lang="en" sz="1050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AutoTokenizer, AutoModelForCausalLM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Load tokenizer and model automatically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tokenizer = AutoTokenizer.from_pretrained(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"gpt2"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model = AutoModelForCausalLM.from_pretrained(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"gpt2"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Encode and generate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inputs = tokenizer(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"Hello world, How are you"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return_tensors=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"pt"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outputs = model.generate(**inputs, max_length=</a:t>
            </a:r>
            <a:r>
              <a:rPr lang="en" sz="105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(tokenizer.decode(outputs[</a:t>
            </a:r>
            <a:r>
              <a:rPr lang="en" sz="105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High‑level API in Hugging Face’s </a:t>
            </a:r>
            <a:r>
              <a:rPr lang="en" sz="1400">
                <a:solidFill>
                  <a:srgbClr val="188038"/>
                </a:solidFill>
              </a:rPr>
              <a:t>transformers</a:t>
            </a:r>
            <a:r>
              <a:rPr lang="en" sz="1400">
                <a:solidFill>
                  <a:schemeClr val="dk1"/>
                </a:solidFill>
              </a:rPr>
              <a:t> library.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Simplifies using pre‑trained models for common tasks.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pipeline() abstraction handles </a:t>
            </a:r>
            <a:r>
              <a:rPr b="1" lang="en" sz="1400">
                <a:solidFill>
                  <a:schemeClr val="dk1"/>
                </a:solidFill>
              </a:rPr>
              <a:t>tokenization, model inference, and decoding</a:t>
            </a:r>
            <a:r>
              <a:rPr lang="en" sz="1400">
                <a:solidFill>
                  <a:schemeClr val="dk1"/>
                </a:solidFill>
              </a:rPr>
              <a:t> automatically.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Consistency</a:t>
            </a:r>
            <a:r>
              <a:rPr lang="en" sz="1400">
                <a:solidFill>
                  <a:schemeClr val="dk1"/>
                </a:solidFill>
              </a:rPr>
              <a:t>: Same interface across tasks (text, vision, audio).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Flexibility</a:t>
            </a:r>
            <a:r>
              <a:rPr lang="en" sz="1400">
                <a:solidFill>
                  <a:schemeClr val="dk1"/>
                </a:solidFill>
              </a:rPr>
              <a:t>: Swap models easily by changing the model name.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A pipeline consists of:</a:t>
            </a:r>
            <a:endParaRPr sz="1250">
              <a:solidFill>
                <a:srgbClr val="4A5565"/>
              </a:solidFill>
              <a:highlight>
                <a:srgbClr val="FFFFFF"/>
              </a:highlight>
            </a:endParaRPr>
          </a:p>
          <a:p>
            <a:pPr indent="-307975" lvl="0" marL="914400" rtl="0" algn="l">
              <a:spcBef>
                <a:spcPts val="0"/>
              </a:spcBef>
              <a:spcAft>
                <a:spcPts val="0"/>
              </a:spcAft>
              <a:buClr>
                <a:srgbClr val="4A5565"/>
              </a:buClr>
              <a:buSzPts val="1250"/>
              <a:buChar char="●"/>
            </a:pP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One or more components for pre-processing model inputs, such as a </a:t>
            </a:r>
            <a:r>
              <a:rPr lang="en" sz="125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tokenizer</a:t>
            </a: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, </a:t>
            </a:r>
            <a:r>
              <a:rPr lang="en" sz="125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image_processor</a:t>
            </a: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, </a:t>
            </a:r>
            <a:r>
              <a:rPr lang="en" sz="1250" u="sng">
                <a:solidFill>
                  <a:schemeClr val="hlink"/>
                </a:solidFill>
                <a:highlight>
                  <a:srgbClr val="FFFFFF"/>
                </a:highlight>
                <a:hlinkClick r:id="rId5"/>
              </a:rPr>
              <a:t>feature_extractor</a:t>
            </a: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, or </a:t>
            </a:r>
            <a:r>
              <a:rPr lang="en" sz="1250" u="sng">
                <a:solidFill>
                  <a:schemeClr val="hlink"/>
                </a:solidFill>
                <a:highlight>
                  <a:srgbClr val="FFFFFF"/>
                </a:highlight>
                <a:hlinkClick r:id="rId6"/>
              </a:rPr>
              <a:t>processor</a:t>
            </a: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.</a:t>
            </a:r>
            <a:endParaRPr sz="1250">
              <a:solidFill>
                <a:srgbClr val="4A5565"/>
              </a:solidFill>
              <a:highlight>
                <a:srgbClr val="FFFFFF"/>
              </a:highlight>
            </a:endParaRPr>
          </a:p>
          <a:p>
            <a:pPr indent="-307975" lvl="0" marL="914400" rtl="0" algn="l">
              <a:spcBef>
                <a:spcPts val="0"/>
              </a:spcBef>
              <a:spcAft>
                <a:spcPts val="0"/>
              </a:spcAft>
              <a:buClr>
                <a:srgbClr val="4A5565"/>
              </a:buClr>
              <a:buSzPts val="1250"/>
              <a:buChar char="●"/>
            </a:pP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A </a:t>
            </a:r>
            <a:r>
              <a:rPr lang="en" sz="1250" u="sng">
                <a:solidFill>
                  <a:schemeClr val="hlink"/>
                </a:solidFill>
                <a:highlight>
                  <a:srgbClr val="FFFFFF"/>
                </a:highlight>
                <a:hlinkClick r:id="rId7"/>
              </a:rPr>
              <a:t>model</a:t>
            </a: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 that generates predictions from the inputs.</a:t>
            </a:r>
            <a:endParaRPr sz="1250">
              <a:solidFill>
                <a:srgbClr val="4A5565"/>
              </a:solidFill>
              <a:highlight>
                <a:srgbClr val="FFFFFF"/>
              </a:highlight>
            </a:endParaRPr>
          </a:p>
          <a:p>
            <a:pPr indent="-307975" lvl="0" marL="914400" rtl="0" algn="l">
              <a:spcBef>
                <a:spcPts val="0"/>
              </a:spcBef>
              <a:spcAft>
                <a:spcPts val="0"/>
              </a:spcAft>
              <a:buClr>
                <a:srgbClr val="4A5565"/>
              </a:buClr>
              <a:buSzPts val="1250"/>
              <a:buChar char="●"/>
            </a:pP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Optional post-processing steps to refine the model’s output, which can also be handled by processors.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Trask Specific Pipelines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Dedicated classes for specific tasks (e.g.,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TextClassificationPipeline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QuestionAnsweringPipeline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Provide </a:t>
            </a:r>
            <a:r>
              <a:rPr b="1" lang="en" sz="1100">
                <a:solidFill>
                  <a:schemeClr val="dk1"/>
                </a:solidFill>
              </a:rPr>
              <a:t>fine‑grained control</a:t>
            </a:r>
            <a:r>
              <a:rPr lang="en" sz="1100">
                <a:solidFill>
                  <a:schemeClr val="dk1"/>
                </a:solidFill>
              </a:rPr>
              <a:t> and customization beyond the general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pipeline()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Useful when you need to tweak preprocessing, postprocessing, or integrate into larger systems.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steps inside the pipeline function   </a:t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00" y="1361849"/>
            <a:ext cx="8305802" cy="29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Supported Tasks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Text classification (sentiment analysis, topic detection)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Text generation (LLMs, chatbots)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Named entity recognition (NER)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Question answering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Translation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Summarization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Image classification, object detection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Audio tasks (speech recognition, text‑to‑speech)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Pipelines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A626A4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transformers </a:t>
            </a:r>
            <a:r>
              <a:rPr lang="en" sz="950">
                <a:solidFill>
                  <a:srgbClr val="A626A4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pipeline</a:t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classifier = pipeline(</a:t>
            </a:r>
            <a:r>
              <a:rPr lang="en" sz="95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"sentiment-analysis"</a:t>
            </a: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71429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classifier(</a:t>
            </a:r>
            <a:r>
              <a:rPr lang="en" sz="95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"Hello World! Have a wonderful day today"</a:t>
            </a: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