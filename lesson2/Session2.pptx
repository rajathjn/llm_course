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B997B4-9BF3-47C5-ADE1-C7EDE530CDC0}">
  <a:tblStyle styleId="{F7B997B4-9BF3-47C5-ADE1-C7EDE530CD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561d138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561d138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561d138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561d138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561d138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561d138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1bbe028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1bbe028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def6fae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def6fae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561d138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561d138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8ae9ccc9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8ae9ccc9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8ae9ccc9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8ae9ccc9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8ae9ccc9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8ae9ccc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9def6fa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9def6fa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8ae9ccc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8ae9ccc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8596583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8596583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8ae9ccc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8ae9ccc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ae9ccc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ae9ccc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ggml-org/llama.cp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Transformer architecture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400" y="1086150"/>
            <a:ext cx="595719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Transformer architecture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900" y="1142125"/>
            <a:ext cx="609421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Inference: Ollama and LangChain Basics 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 for Local Inference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Ollama: mainly for individual prototyping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vLLM: Better concurrency and performance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LocalAI: Supports audio, vision models as well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Various Model Formats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GGUF: Initially developed for the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llama.cpp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project.  GGUF is primarily used for language models. Offers flexible quantization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Pytorch : .pt/.pth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Safetensors: HuggingFace format that overcomes security limitations with python serialization.JSON parser required to read metadata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ONNX: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Open Neural Network Exchange (ONNX) , vendor neutral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Tokens are the building blocks of text that models process. They can be as short as a single character or as long as a full word, depending on the language and context. Spaces, punctuation, and partial words all contribute to token counts. This is how the API internally segments your text before generating a response.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Helpful rules of thumb for English: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 token ≈ 4 characters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 token ≈ ¾ of a word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100 tokens ≈ 75 words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1–2 sentences ≈ 30 tokens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 paragraph ≈ 100 tokens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~1,500 words ≈ 2,048 tokens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need for LLM orchestration Frameworks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242424"/>
                </a:solidFill>
                <a:highlight>
                  <a:srgbClr val="FFFFFF"/>
                </a:highlight>
              </a:rPr>
              <a:t>An LLM </a:t>
            </a:r>
            <a:r>
              <a:rPr lang="en">
                <a:solidFill>
                  <a:srgbClr val="242424"/>
                </a:solidFill>
                <a:highlight>
                  <a:srgbClr val="FFFFFF"/>
                </a:highlight>
              </a:rPr>
              <a:t>doesn't</a:t>
            </a:r>
            <a:r>
              <a:rPr lang="en">
                <a:solidFill>
                  <a:srgbClr val="242424"/>
                </a:solidFill>
                <a:highlight>
                  <a:srgbClr val="FFFFFF"/>
                </a:highlight>
              </a:rPr>
              <a:t> remember/have access to previous responses it has provided. A common fix for this is to include the conversation so far as part of the prompt sent to the LLM.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Prompts</a:t>
            </a:r>
            <a:r>
              <a:rPr lang="en"/>
              <a:t> chains can be nested or combined.This lets you build modular systems rather than monolithic scripts (example: a summarization chain feeding into a question‑answering chain)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You don’t have to manually stitch together prompts with past messages.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Consistency across providers. You can swap out the underlying LLM without rewriting the workflow.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Chain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900" y="1618025"/>
            <a:ext cx="6898200" cy="34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280800" y="1017725"/>
            <a:ext cx="82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ach chain in the sequence accepts one input and returns one output. The output of each chain is automatically fed as input to the next chain in the sequence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Chain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800" y="1512725"/>
            <a:ext cx="7064400" cy="35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1017725"/>
            <a:ext cx="7646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complex workflows where chains might depend on several pieces of information.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LangChain framework Core Components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Models</a:t>
            </a:r>
            <a:r>
              <a:rPr lang="en"/>
              <a:t>: Abstract how to call different model providers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Prompt Templates: </a:t>
            </a:r>
            <a:r>
              <a:rPr lang="en">
                <a:highlight>
                  <a:srgbClr val="FFFFFF"/>
                </a:highlight>
              </a:rPr>
              <a:t>Define how user inputs are formatted and structured to guide LLMs effectively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Memory : </a:t>
            </a:r>
            <a:r>
              <a:rPr lang="en"/>
              <a:t>Store the list of messages sent and received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Chains: </a:t>
            </a:r>
            <a:r>
              <a:rPr lang="en"/>
              <a:t>Sequence of calls to an LLM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Vector Databases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ChatOpenAI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ChatOpenAI is the primary class used for chatting with OpenAI models.  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LangChain’s interface for interacting with OpenAI’s API.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 subclass of </a:t>
            </a:r>
            <a:r>
              <a:rPr i="1"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BaseChatModel, </a:t>
            </a:r>
            <a:r>
              <a:rPr lang="en" sz="15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which is a generic class that implements subclasses for individual API services</a:t>
            </a: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Langchain Memory classes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Automatic history management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ConversationBufferMemory</a:t>
            </a:r>
            <a:r>
              <a:rPr lang="en" sz="1100">
                <a:solidFill>
                  <a:schemeClr val="dk1"/>
                </a:solidFill>
              </a:rPr>
              <a:t>: keeps the full chat history.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ConversationBufferWindowMemory</a:t>
            </a:r>
            <a:r>
              <a:rPr lang="en" sz="1100">
                <a:solidFill>
                  <a:schemeClr val="dk1"/>
                </a:solidFill>
              </a:rPr>
              <a:t>: keeps only the last </a:t>
            </a:r>
            <a:r>
              <a:rPr i="1" lang="en" sz="1100">
                <a:solidFill>
                  <a:schemeClr val="dk1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 turns (avoids token bloat).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ConversationSummaryMemory</a:t>
            </a:r>
            <a:r>
              <a:rPr lang="en" sz="1100">
                <a:solidFill>
                  <a:schemeClr val="dk1"/>
                </a:solidFill>
              </a:rPr>
              <a:t>: summarizes older turns into a compact form.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Plug-and-play with chains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Memory integrates seamlessly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ConversationChain</a:t>
            </a:r>
            <a:r>
              <a:rPr lang="en" sz="1100">
                <a:solidFill>
                  <a:schemeClr val="dk1"/>
                </a:solidFill>
              </a:rPr>
              <a:t> or custom chains.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 don’t have to manually stitch messages into prompts — LangChain does 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Consistency across models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Whether you use OpenAI, Anthropic, Hugging Face, or Ollama, the memory classes abstract away the differences in message formats.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Conversation Buffer Window Memory</a:t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825" y="1135150"/>
            <a:ext cx="488235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Memory</a:t>
            </a:r>
            <a:endParaRPr/>
          </a:p>
        </p:txBody>
      </p:sp>
      <p:graphicFrame>
        <p:nvGraphicFramePr>
          <p:cNvPr id="141" name="Google Shape;141;p27"/>
          <p:cNvGraphicFramePr/>
          <p:nvPr/>
        </p:nvGraphicFramePr>
        <p:xfrm>
          <a:off x="311700" y="12371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{F7B997B4-9BF3-47C5-ADE1-C7EDE530CDC0}</a:tableStyleId>
              </a:tblPr>
              <a:tblGrid>
                <a:gridCol w="1040000"/>
                <a:gridCol w="1842775"/>
                <a:gridCol w="1906650"/>
                <a:gridCol w="1870150"/>
                <a:gridCol w="1861025"/>
              </a:tblGrid>
              <a:tr h="80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Memory Type</a:t>
                      </a:r>
                      <a:endParaRPr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Conversation Buffer Memory</a:t>
                      </a:r>
                      <a:endParaRPr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Conversation Buffer Window Memory</a:t>
                      </a:r>
                      <a:endParaRPr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Conversation Summary Memory</a:t>
                      </a:r>
                      <a:endParaRPr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Vector Store Retriever Memory</a:t>
                      </a:r>
                      <a:endParaRPr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105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3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What it Stores</a:t>
                      </a:r>
                      <a:endParaRPr b="1" sz="13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3175" marB="93175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Entire conversation history as plain text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Only the most recent k exchanges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Condensed LLM generated summary of past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Embeddings of past conversations in a vector DB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3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Strengths</a:t>
                      </a:r>
                      <a:endParaRPr b="1" sz="13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3175" marB="93175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Full context preserved, simple to use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Keeps context relevant, avoids token overload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Saves tokens, retains long term context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Semantic recall across long histories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3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Limitations</a:t>
                      </a:r>
                      <a:endParaRPr b="1" sz="13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3175" marB="93175" marR="38100" marL="381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Can grow too large and exceed token limits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Loses older parts of the conversation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Summaries may miss important details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Needs external vector DB, higher setup</a:t>
                      </a:r>
                      <a:endParaRPr sz="12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